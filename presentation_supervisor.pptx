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UEFA vs FIFA Tie Break:
Which Creates More Suspense?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Alessandro Di Mattia  ·  Alex Krumer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BBDD"/>
                </a:solidFill>
              </a:rPr>
              <a:t>Supervisor Meeting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CC"/>
                </a:solidFill>
              </a:rPr>
              <a:t>Sports Economics  ·  Tournament Design  ·  Suspense Measurement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Why tie-breaking rules matter for fans and revenues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466344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18A"/>
                </a:solidFill>
              </a:rPr>
              <a:t>The Economic Stakes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2022 FIFA World Cup: ~2.87 billion viewers; USD 6.3 bn in broadcasting &amp; commercial rights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Euro 2024: 5.7 billion worldwide TV viewers; 2.67 million stadium attendees across 51 matches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Fan engagement translates directly into broadcasting fees, sponsorships, and ticket revenues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669280" cy="4663440"/>
          </a:xfrm>
          <a:prstGeom prst="rect">
            <a:avLst/>
          </a:prstGeom>
          <a:solidFill>
            <a:srgbClr val="FEEC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344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18A"/>
                </a:solidFill>
              </a:rPr>
              <a:t>The Academic Insight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Fans derive enjoyment from non-instrumental information: suspense &amp; uncertainty (Ely, 2015; Zillmann, 2013)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In-game dynamics — not just final outcome — drive demand (Alavy et al., 2010; Buraimo et al., 2020)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Low-stakes games reduce interest; rules that preserve uncertainty extend attention across the tournament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11612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418A"/>
                </a:solidFill>
              </a:rPr>
              <a:t>▶  Tie-breaking criteria are an under-studied institutional </a:t>
            </a:r>
            <a:r>
              <a:rPr lang="nb-NO" sz="1400" b="1" i="0" dirty="0" err="1">
                <a:solidFill>
                  <a:srgbClr val="00418A"/>
                </a:solidFill>
              </a:rPr>
              <a:t>rules</a:t>
            </a:r>
            <a:r>
              <a:rPr sz="1400" b="1" i="0" dirty="0">
                <a:solidFill>
                  <a:srgbClr val="00418A"/>
                </a:solidFill>
              </a:rPr>
              <a:t> that shapes suspense for billions of fans.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Question &amp;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9966960" cy="118872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Does the choice of tie-breaking criterion — FIFA goal difference vs UEFA head-to-head — affect the level of group-stage suspense in international football?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606040"/>
            <a:ext cx="11612880" cy="356616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11338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18A"/>
                </a:solidFill>
              </a:rPr>
              <a:t>Our Contributions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New binary suspense indicator defined at the group level (not match level)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Counterfactual design: apply both rules to the same historical data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Empirical test using ~662 goals and ~10,800 minute-by-minute observations (WC 1986–2022; Euro 1984–2024)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European Championship as a built-in placebo check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E2E2E"/>
                </a:solidFill>
              </a:rPr>
              <a:t>▸  Bridges tournament design &amp; sports demand literatures (Csató, 2023; Buraimo et al., 2020)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Main result: FIFA's goal-difference rule generates significantly more suspense in the World Cup (+4.2 pp, p &lt; 0.01)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World Cup 1986–2022 and European Championship 1984–2024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486400" cy="4572000"/>
          </a:xfrm>
          <a:prstGeom prst="rect">
            <a:avLst/>
          </a:prstGeom>
          <a:solidFill>
            <a:srgbClr val="E8F0FE"/>
          </a:solidFill>
          <a:ln w="19050">
            <a:solidFill>
              <a:srgbClr val="004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18A"/>
                </a:solidFill>
              </a:rPr>
              <a:t>FIFA World Cup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Editions: 1986 – 2022  (10 tournaments)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Groups: 6 (1986–1994) → 8 (1998–2022), 4 teams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Qualifying format: Top 2 (+ best 4 thirds in 6-group era)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Goals scraped: 455   |   Minute rows: 6,789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Points: 2 for win until 1992; 3 for win from 1994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Elo ratings: from www.international-football.net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7083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Cross-checked with official FIFA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143000"/>
            <a:ext cx="5486400" cy="4572000"/>
          </a:xfrm>
          <a:prstGeom prst="rect">
            <a:avLst/>
          </a:prstGeom>
          <a:solidFill>
            <a:srgbClr val="FEECE8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UEFA European Championship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Editions: 1984 – 2024  (11 tournaments)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7627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Groups: 2 (1984–1992) → 4 (1996–2012) → 6 (2016–2024)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15184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Qualifying format: Top 2 (+ best 4 thirds in 6-group era)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54096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Goals scraped: 207   |   Minute rows: 4,044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9300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Points: same evolution as FIFA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0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Elo ratings: same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7083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2E2E"/>
                </a:solidFill>
              </a:rPr>
              <a:t>▸  Cross-checked with official UEFA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18A"/>
                </a:solidFill>
              </a:rPr>
              <a:t>Counterfactual: both tie-breaking rules applied to the same observed match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Methodology: Binary Suspense Indicator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418A"/>
                </a:solidFill>
              </a:rPr>
              <a:t>Suspense = 1  if a single additional goal in any ongoing group match
would change which teams advance to the knockout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530352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18A"/>
                </a:solidFill>
              </a:rPr>
              <a:t>After each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</a:rPr>
              <a:t>Update group standings in real time; evaluate whether next goal changes qualifiers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286000"/>
            <a:ext cx="530352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18A"/>
                </a:solidFill>
              </a:rPr>
              <a:t>Minute by minute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43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</a:rPr>
              <a:t>Track suspense on a 90-minute scale; capture how long groups remain undecided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743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⟷  Same data, two rule-sets, fully counterfactual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14800"/>
            <a:ext cx="11612880" cy="2514600"/>
          </a:xfrm>
          <a:prstGeom prst="rect">
            <a:avLst/>
          </a:prstGeom>
          <a:solidFill>
            <a:srgbClr val="EFF7E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113385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0418A"/>
                </a:solidFill>
              </a:rPr>
              <a:t>Worked Examples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2E2E2E"/>
                </a:solidFill>
              </a:rPr>
              <a:t>▸  Euro 2024 Group F — Portugal &amp; Turkey qualify; Czech Republic starts 0-0 vs Turkey → Czech goal flips qualification → Suspense = 1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2E2E2E"/>
                </a:solidFill>
              </a:rPr>
              <a:t>▸  Euro 2024 Group A — Hungary scores in minute 100 vs Scotland → briefly becomes a best 3rd-place team → Suspense = 1 at that moment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2E2E2E"/>
                </a:solidFill>
              </a:rPr>
              <a:t>▸  Two shocks evaluated: lagging team scores (+1)  OR  leading team concedes (+1)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2E2E2E"/>
                </a:solidFill>
              </a:rPr>
              <a:t>▸  Full tie on all criteria still counts as suspenseful (next tie-break could be lots)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Goal-level data — mean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FIFA Rules
(World Cup)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UEFA Rules
(World Cup)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FIFA Rules
(Euro)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UEFA Rules
(Euro)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28800"/>
            <a:ext cx="1161288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</a:rPr>
              <a:t>Qualification changed (mean)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019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0.19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019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0.18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9019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0.32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019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0.29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87168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560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</a:rPr>
              <a:t>Qualification count (mean)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0.72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0.71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1.11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45536"/>
            <a:ext cx="1161288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218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E2E2E"/>
                </a:solidFill>
              </a:rPr>
              <a:t>Suspense (mean)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218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418A"/>
                </a:solidFill>
              </a:rPr>
              <a:t>0.44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218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0000"/>
                </a:solidFill>
              </a:rPr>
              <a:t>0.36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218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418A"/>
                </a:solidFill>
              </a:rPr>
              <a:t>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218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0000"/>
                </a:solidFill>
              </a:rPr>
              <a:t>0.49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03904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8770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</a:rPr>
              <a:t>Elo home (mean)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877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1,797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877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1,797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877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1,857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877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1,857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62272"/>
            <a:ext cx="1161288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5354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</a:rPr>
              <a:t>Elo away (mean)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53542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1,838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53542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1,838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53542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1,896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3542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1,896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20639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519379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E2E2E"/>
                </a:solidFill>
              </a:rPr>
              <a:t>Observations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1937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381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1937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381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1937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226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1937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2E2E2E"/>
                </a:solidFill>
              </a:rPr>
              <a:t>226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0350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18A"/>
                </a:solidFill>
              </a:rPr>
              <a:t>WC: Suspense under FIFA (0.44) &gt; UEFA (0.36)   |   Euro: almost identical (0.50 vs 0.49)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Statistical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Paired t-tests and Wilcoxon signed-rank tests across all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4389120"/>
          </a:xfrm>
          <a:prstGeom prst="rect">
            <a:avLst/>
          </a:prstGeom>
          <a:solidFill>
            <a:srgbClr val="E8F0FE"/>
          </a:solidFill>
          <a:ln w="19050">
            <a:solidFill>
              <a:srgbClr val="004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18A"/>
                </a:solidFill>
              </a:rPr>
              <a:t>World Cup  (74 groups)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64008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Mean Diff.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p-value (t-test)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p-value (Wilcoxon)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95728"/>
            <a:ext cx="539496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Qualification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−0.024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0.535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0.605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54096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Suspense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−0.040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0.008 ***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0.010 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9417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E2E2E"/>
                </a:solidFill>
              </a:rPr>
              <a:t>✔ FIFA rule significantly higher suspense (p &lt; 0.01)
✔ No significant difference in actual qualification changes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06240"/>
            <a:ext cx="5394960" cy="1097280"/>
          </a:xfrm>
          <a:prstGeom prst="rect">
            <a:avLst/>
          </a:prstGeom>
          <a:solidFill>
            <a:srgbClr val="D5E8D4"/>
          </a:solidFill>
          <a:ln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2519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1A"/>
                </a:solidFill>
              </a:rPr>
              <a:t>FIFA raises potential qualification changes
(suspense) without changing actual qualification
changes — it keeps more scenarios alive.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143000"/>
            <a:ext cx="5577840" cy="4389120"/>
          </a:xfrm>
          <a:prstGeom prst="rect">
            <a:avLst/>
          </a:prstGeom>
          <a:solidFill>
            <a:srgbClr val="FEECE8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European Championship  (44 groups)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737360"/>
            <a:ext cx="539496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Mean Diff.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p-value (t-test)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17922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p-value (Wilcoxon)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395728"/>
            <a:ext cx="539496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Qualification 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−0.106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0.182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4505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0.250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054096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Suspense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−0.015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0.389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108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2E"/>
                </a:solidFill>
              </a:rPr>
              <a:t>0.438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063240"/>
            <a:ext cx="5394960" cy="2331720"/>
          </a:xfrm>
          <a:prstGeom prst="rect">
            <a:avLst/>
          </a:prstGeom>
          <a:solidFill>
            <a:srgbClr val="FFEECC"/>
          </a:solidFill>
          <a:ln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310896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54400"/>
                </a:solidFill>
              </a:rPr>
              <a:t>✘ No significant difference in either metric
This serves as a placebo check:
the effect is specific to the World Cup,
not an artefact of how the rules operate
in any tournament context.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</a:rPr>
              <a:t>Note: mean differences reported as UEFA − FIFA (negative = FIFA generates more suspense)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Suspense Over Time (Minute by Minute)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Average suspense per minute under FIFA vs UEFA rules</a:t>
            </a:r>
          </a:p>
        </p:txBody>
      </p:sp>
      <p:pic>
        <p:nvPicPr>
          <p:cNvPr id="6" name="Picture 5" descr="susp_minute_w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5852160" cy="4572000"/>
          </a:xfrm>
          <a:prstGeom prst="rect">
            <a:avLst/>
          </a:prstGeom>
        </p:spPr>
      </p:pic>
      <p:pic>
        <p:nvPicPr>
          <p:cNvPr id="7" name="Picture 6" descr="susp_minute_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8521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5806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18A"/>
                </a:solidFill>
              </a:rPr>
              <a:t>World Cup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806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European Championship (placebo)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2E2E"/>
                </a:solidFill>
              </a:rPr>
              <a:t>WC: FIFA generates systematically higher suspense across all 90 minutes — gap widens near the end.  Euro: rules produce almost identical suspense profiles.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Suspense Trajectories by Group Volatility (World Cup)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Stable groups = below-median qualification changes; Volatile = above median</a:t>
            </a:r>
          </a:p>
        </p:txBody>
      </p:sp>
      <p:pic>
        <p:nvPicPr>
          <p:cNvPr id="6" name="Picture 5" descr="susp_traj_wc_fi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5852160" cy="4572000"/>
          </a:xfrm>
          <a:prstGeom prst="rect">
            <a:avLst/>
          </a:prstGeom>
        </p:spPr>
      </p:pic>
      <p:pic>
        <p:nvPicPr>
          <p:cNvPr id="7" name="Picture 6" descr="susp_traj_wc_u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8521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5806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18A"/>
                </a:solidFill>
              </a:rPr>
              <a:t>Under FIFA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806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Under UEFA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2E2E"/>
                </a:solidFill>
              </a:rPr>
              <a:t>FIFA: stable/volatile gap is large from kick-off and persists (~0.4 pts).  UEFA: gap starts small (~0.2 pts) but widens as the match progresses.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Regression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Linear Probability Model — goal-level, matchday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2E2E2E"/>
                </a:solidFill>
              </a:rPr>
              <a:t>Spec 1: suspense = α + β FIFA_rule + γ t + δ t² + λ Elo_diff + year 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2E2E2E"/>
                </a:solidFill>
              </a:rPr>
              <a:t>Spec 2: Spec 1 + Elo_std + (FIFA_rule × Elo_std)   |   SEs clustered at group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10515600" cy="50292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Euro Spec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Euro Spec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WC Spec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WC Spec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1051560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532888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</a:rPr>
              <a:t>FIFA_rule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53288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0.009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3288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0.031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53288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78644"/>
                </a:solidFill>
              </a:rPr>
              <a:t>0.042***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53288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000"/>
                </a:solidFill>
              </a:rPr>
              <a:t>0.075**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98648"/>
            <a:ext cx="105156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916936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29169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(0.021)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9169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(0.039)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9169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(0.015)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9169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(0.034)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82696"/>
            <a:ext cx="1051560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30098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</a:rPr>
              <a:t>Minute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30098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−0.007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30098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−0.007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30098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−0.007*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30098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000"/>
                </a:solidFill>
              </a:rPr>
              <a:t>−0.007**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66744"/>
            <a:ext cx="105156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368503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40" y="36850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(0.005)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6850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(0.005)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850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(0.004)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6850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(0.004)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50792"/>
            <a:ext cx="1051560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4069080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</a:rPr>
              <a:t>Elo diff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0690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0.000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40690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0.000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0690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0690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0.000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434840"/>
            <a:ext cx="105156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4453128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</a:rPr>
              <a:t>Elo std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445312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445312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0.001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45312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445312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000"/>
                </a:solidFill>
              </a:rPr>
              <a:t>−0.002**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818888"/>
            <a:ext cx="1051560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040" y="4837176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</a:rPr>
              <a:t>FIFA × Elo std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8371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48371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−0.001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48371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8371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−0.001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202936"/>
            <a:ext cx="105156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0040" y="522122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</a:rPr>
              <a:t>Year FE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522122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0600" y="522122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522122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22122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Yes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586984"/>
            <a:ext cx="1051560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560527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2E2E"/>
                </a:solidFill>
              </a:rPr>
              <a:t>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34640" y="5605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452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5605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5605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762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5605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2E2E2E"/>
                </a:solidFill>
              </a:rPr>
              <a:t>760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0350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418A"/>
                </a:solidFill>
              </a:rPr>
              <a:t>WC: +4.2 pp (Spec 1) / +7.5 pp (Spec 2) — effect is structural, independent of competitive balance (FIFA×Elo std insignificant)
Euro: insignificant in both specs — consistent with placebo interpretation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" cy="100584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143000"/>
            <a:ext cx="1101852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44"/>
                </a:solidFill>
              </a:rPr>
              <a:t>FIFA's goal-difference rule generates significantly more suspense in the World Cup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</a:rPr>
              <a:t>A goal on matchday 3 under FIFA rules is 4.2 pp more likely to occur in a suspenseful state (p &lt; 0.01); robust to competitive balance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594360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606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77440"/>
            <a:ext cx="1101852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18A"/>
                </a:solidFill>
              </a:rPr>
              <a:t>The effect is structural — not driven by competitive imbalance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</a:rPr>
              <a:t>Interaction FIFA × Elo std is statistically insignificant: FIFA advantage is uniform across balanced and unbalanced groups.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11880"/>
            <a:ext cx="59436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611880"/>
            <a:ext cx="1101852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</a:rPr>
              <a:t>Suspense under FIFA rules is more stable and persistent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69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</a:rPr>
              <a:t>FIFA produces higher suspense throughout the full 90 minutes; the gap is largest near the end. Volatile groups are more suspenseful under both rules.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46320"/>
            <a:ext cx="594360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5074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846320"/>
            <a:ext cx="1101852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European Championship as a placebo: no significant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2E2E"/>
                </a:solidFill>
              </a:rPr>
              <a:t>Neither t-test nor Wilcoxon test detects a difference in Euro groups (p &gt; 0.38). Effect is specific to the World Cup's goals distribution.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Policy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1234440"/>
          </a:xfrm>
          <a:prstGeom prst="rect">
            <a:avLst/>
          </a:prstGeom>
          <a:solidFill>
            <a:srgbClr val="00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Institutional design matters: the choice of tie-breaking criterion has measurable consequences
for the suspense experienced by billions of fans who follow the World Cup.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14600"/>
            <a:ext cx="11612880" cy="324612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113385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0418A"/>
                </a:solidFill>
              </a:rPr>
              <a:t>Take-aways for Governing Bodies</a:t>
            </a:r>
          </a:p>
          <a:p>
            <a:pPr algn="l">
              <a:spcBef>
                <a:spcPts val="300"/>
              </a:spcBef>
            </a:pPr>
            <a:r>
              <a:rPr sz="1450">
                <a:solidFill>
                  <a:srgbClr val="2E2E2E"/>
                </a:solidFill>
              </a:rPr>
              <a:t>▸  Goal-difference (FIFA) keeps more qualification scenarios alive simultaneously → more persistent suspense</a:t>
            </a:r>
          </a:p>
          <a:p>
            <a:pPr algn="l">
              <a:spcBef>
                <a:spcPts val="300"/>
              </a:spcBef>
            </a:pPr>
            <a:r>
              <a:rPr sz="1450">
                <a:solidFill>
                  <a:srgbClr val="2E2E2E"/>
                </a:solidFill>
              </a:rPr>
              <a:t>▸  Head-to-head (UEFA) locks in outcomes early once previous fixtures are played → lower potential suspense</a:t>
            </a:r>
          </a:p>
          <a:p>
            <a:pPr algn="l">
              <a:spcBef>
                <a:spcPts val="300"/>
              </a:spcBef>
            </a:pPr>
            <a:r>
              <a:rPr sz="1450">
                <a:solidFill>
                  <a:srgbClr val="2E2E2E"/>
                </a:solidFill>
              </a:rPr>
              <a:t>▸  Audiences aware of qualification stakes respond to this uncertainty → direct link to entertainment value</a:t>
            </a:r>
          </a:p>
          <a:p>
            <a:pPr algn="l">
              <a:spcBef>
                <a:spcPts val="300"/>
              </a:spcBef>
            </a:pPr>
            <a:r>
              <a:rPr sz="1450">
                <a:solidFill>
                  <a:srgbClr val="2E2E2E"/>
                </a:solidFill>
              </a:rPr>
              <a:t>▸  2026 FIFA World Cup will switch to head-to-head as primary tiebreaker → our results predict a decline in WC group-stage suspense</a:t>
            </a:r>
          </a:p>
          <a:p>
            <a:pPr algn="l">
              <a:spcBef>
                <a:spcPts val="300"/>
              </a:spcBef>
            </a:pPr>
            <a:r>
              <a:rPr sz="1450">
                <a:solidFill>
                  <a:srgbClr val="2E2E2E"/>
                </a:solidFill>
              </a:rPr>
              <a:t>▸  Governing bodies should weigh suspension-generating properties of rules alongside fairness considerations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943600"/>
            <a:ext cx="11612880" cy="685800"/>
          </a:xfrm>
          <a:prstGeom prst="rect">
            <a:avLst/>
          </a:prstGeom>
          <a:solidFill>
            <a:srgbClr val="FFF0C0"/>
          </a:solidFill>
          <a:ln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4400"/>
                </a:solidFill>
              </a:rPr>
              <a:t>Paper status: all sections complete (Intro · Lit Review · Data · Methodology · Results · Conclusion · Appendix)
Next steps: final proofread, journal submission target 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1513</Words>
  <Application>Microsoft Office PowerPoint</Application>
  <PresentationFormat>Custom</PresentationFormat>
  <Paragraphs>210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Alessandro Edoardo Giorgio David Di Mattia</cp:lastModifiedBy>
  <cp:revision>2</cp:revision>
  <dcterms:created xsi:type="dcterms:W3CDTF">2013-01-27T09:14:16Z</dcterms:created>
  <dcterms:modified xsi:type="dcterms:W3CDTF">2026-06-04T13:24:38Z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59125d-3421-490c-8c49-713131ff88a1_Enabled">
    <vt:lpwstr>true</vt:lpwstr>
  </property>
  <property fmtid="{D5CDD505-2E9C-101B-9397-08002B2CF9AE}" pid="3" name="MSIP_Label_ee59125d-3421-490c-8c49-713131ff88a1_SetDate">
    <vt:lpwstr>2026-06-04T13:24:38Z</vt:lpwstr>
  </property>
  <property fmtid="{D5CDD505-2E9C-101B-9397-08002B2CF9AE}" pid="4" name="MSIP_Label_ee59125d-3421-490c-8c49-713131ff88a1_Method">
    <vt:lpwstr>Standard</vt:lpwstr>
  </property>
  <property fmtid="{D5CDD505-2E9C-101B-9397-08002B2CF9AE}" pid="5" name="MSIP_Label_ee59125d-3421-490c-8c49-713131ff88a1_Name">
    <vt:lpwstr>Yellow</vt:lpwstr>
  </property>
  <property fmtid="{D5CDD505-2E9C-101B-9397-08002B2CF9AE}" pid="6" name="MSIP_Label_ee59125d-3421-490c-8c49-713131ff88a1_SiteId">
    <vt:lpwstr>938c1eb0-9d08-484b-92b9-53f583bd08fb</vt:lpwstr>
  </property>
  <property fmtid="{D5CDD505-2E9C-101B-9397-08002B2CF9AE}" pid="7" name="MSIP_Label_ee59125d-3421-490c-8c49-713131ff88a1_ActionId">
    <vt:lpwstr>98e3101a-3245-465e-85d9-13f10395563c</vt:lpwstr>
  </property>
  <property fmtid="{D5CDD505-2E9C-101B-9397-08002B2CF9AE}" pid="8" name="MSIP_Label_ee59125d-3421-490c-8c49-713131ff88a1_ContentBits">
    <vt:lpwstr>0</vt:lpwstr>
  </property>
  <property fmtid="{D5CDD505-2E9C-101B-9397-08002B2CF9AE}" pid="9" name="MSIP_Label_ee59125d-3421-490c-8c49-713131ff88a1_Tag">
    <vt:lpwstr>10, 3, 0, 1</vt:lpwstr>
  </property>
</Properties>
</file>